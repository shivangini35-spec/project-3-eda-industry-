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3"/>
    <p:sldId id="268" r:id="rId14"/>
    <p:sldId id="269" r:id="rId15"/>
    <p:sldId id="270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5196" autoAdjust="0"/>
  </p:normalViewPr>
  <p:slideViewPr>
    <p:cSldViewPr snapToGrid="0" snapToObjects="1">
      <p:cViewPr varScale="1">
        <p:scale>
          <a:sx n="81" d="100"/>
          <a:sy n="81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951C4F-2F3F-40CC-8B3E-F4445384CFC3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55F24-ACD8-4ECF-BC5E-04897A04E4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08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55F24-ACD8-4ECF-BC5E-04897A04E44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526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55F24-ACD8-4ECF-BC5E-04897A04E44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662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5823" y="1645920"/>
            <a:ext cx="7729873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dirty="0"/>
              <a:t>Exploratory Data Analysis of</a:t>
            </a:r>
            <a:br>
              <a:rPr dirty="0"/>
            </a:br>
            <a:r>
              <a:rPr dirty="0"/>
              <a:t>Large-Scale Industry Performance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2113" y="5029200"/>
            <a:ext cx="20172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C3C7"/>
                </a:solidFill>
              </a:defRPr>
            </a:pPr>
            <a:r>
              <a:rPr lang="en-IN" dirty="0"/>
              <a:t>Created by Shivangini</a:t>
            </a:r>
            <a:r>
              <a:rPr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Exploratory Data Analysis (EDA) is a statistical approach to understand data before predictive modeling.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It uses summary statistics, visualizations, and relationship analysis to uncover patterns and anomalies.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Project Context: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Large-scale industry performance dataset covering global companies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15,000 company records across 5 industries and 4 countries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12 variables including revenue, employees, profit, customers, and ratings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Business Value: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Identify industry trends and performance benchmarks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Understand revenue behavior and market dynamics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Support strategic decision-making and forecasting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Problem Statement: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Analyze a large-scale industry performance dataset using univariate, bivariate,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and multivariate statistical techniques to extract meaningful business insights.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Primary Objectives: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1. Perform comprehensive univariate analysis on all numerical variables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2. Conduct bivariate analysis to study relationships between variable pairs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3. Apply multivariate analysis for multi-factor interaction patterns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4. Detect and interpret outliers using boxplots and IQR method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5. Measure skewness and kurtosis for distribution shape analysis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6. Generate correlation matrix and heatmap for numerical variables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7. Compare performance across industries, countries, and regions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Libraries, Tools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Python Libraries Used: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NumPy — Numerical operations and multidimensional array handling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Pandas — Data loading, cleaning, manipulation, and statistical analysis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Matplotlib — Histograms, boxplots, bar charts, and scatter plots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Seaborn — Advanced statistical visualizations and correlation heatmaps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EDA Methodology Applied: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Step 1: Data Loading &amp; Initial Exploration (head, tail, info, describe)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Step 2: Data Cleaning (null check, duplicate check, date conversion)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Step 3: Univariate Analysis (distributions, skewness, kurtosis, boxplots)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Step 4: Categorical Analysis (frequency counts, grouped comparisons)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Step 5: Bivariate Analysis (scatter plots, correlation coefficients)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Step 6: Multivariate Analysis (correlation heatmap, grouped boxplots)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Data Preprocessing &amp; Quality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Data Loading: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</a:t>
            </a:r>
            <a:r>
              <a:rPr dirty="0" err="1"/>
              <a:t>df</a:t>
            </a:r>
            <a:r>
              <a:rPr dirty="0"/>
              <a:t> = </a:t>
            </a:r>
            <a:r>
              <a:rPr dirty="0" err="1"/>
              <a:t>pd.read</a:t>
            </a:r>
            <a:r>
              <a:rPr dirty="0"/>
              <a:t>_</a:t>
            </a:r>
            <a:r>
              <a:rPr lang="en-IN" dirty="0"/>
              <a:t>csv</a:t>
            </a:r>
            <a:r>
              <a:rPr dirty="0"/>
              <a:t>('INDUSTRY.</a:t>
            </a:r>
            <a:r>
              <a:rPr lang="en-IN" dirty="0"/>
              <a:t>csv</a:t>
            </a:r>
            <a:r>
              <a:rPr dirty="0"/>
              <a:t>') — Successfully loaded 15,000 records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Data Cleaning Steps: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Converted </a:t>
            </a:r>
            <a:r>
              <a:rPr dirty="0" err="1"/>
              <a:t>created_date</a:t>
            </a:r>
            <a:r>
              <a:rPr dirty="0"/>
              <a:t> column to datetime format using </a:t>
            </a:r>
            <a:r>
              <a:rPr dirty="0" err="1"/>
              <a:t>pd.to_datetime</a:t>
            </a:r>
            <a:r>
              <a:rPr dirty="0"/>
              <a:t>()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Verified all column data types (7 numerical, 4 categorical, 1 datetime)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Checked for missing values across all 12 columns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Checked for duplicate records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Quality Check Results: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Missing Values: 0 null values in all columns — Dataset is 100% complete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Duplicate Records: 0 duplicates found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Data Integrity: All records are valid and analysis-ready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No imputation or row removal was required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Descriptive Statistics — Numerical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Variable                  </a:t>
            </a:r>
            <a:r>
              <a:rPr lang="en-IN" dirty="0"/>
              <a:t>              </a:t>
            </a:r>
            <a:r>
              <a:rPr dirty="0"/>
              <a:t>Mean       </a:t>
            </a:r>
            <a:r>
              <a:rPr lang="en-IN" dirty="0"/>
              <a:t>     </a:t>
            </a:r>
            <a:r>
              <a:rPr dirty="0"/>
              <a:t> </a:t>
            </a:r>
            <a:r>
              <a:rPr lang="en-IN" dirty="0"/>
              <a:t>      </a:t>
            </a:r>
            <a:r>
              <a:rPr dirty="0"/>
              <a:t>Median      </a:t>
            </a:r>
            <a:r>
              <a:rPr lang="en-IN" dirty="0"/>
              <a:t>          </a:t>
            </a:r>
            <a:r>
              <a:rPr dirty="0"/>
              <a:t>Std Dev     </a:t>
            </a:r>
            <a:r>
              <a:rPr lang="en-IN" dirty="0"/>
              <a:t>           </a:t>
            </a:r>
            <a:r>
              <a:rPr dirty="0"/>
              <a:t>Min        </a:t>
            </a:r>
            <a:r>
              <a:rPr lang="en-IN" dirty="0"/>
              <a:t>            </a:t>
            </a:r>
            <a:r>
              <a:rPr dirty="0"/>
              <a:t> Max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 err="1"/>
              <a:t>employee_count</a:t>
            </a:r>
            <a:r>
              <a:rPr dirty="0"/>
              <a:t>            </a:t>
            </a:r>
            <a:r>
              <a:rPr lang="en-IN" dirty="0"/>
              <a:t>      </a:t>
            </a:r>
            <a:r>
              <a:rPr dirty="0"/>
              <a:t>2,601     </a:t>
            </a:r>
            <a:r>
              <a:rPr lang="en-IN" dirty="0"/>
              <a:t>       </a:t>
            </a:r>
            <a:r>
              <a:rPr dirty="0"/>
              <a:t>  </a:t>
            </a:r>
            <a:r>
              <a:rPr lang="en-IN" dirty="0"/>
              <a:t>    </a:t>
            </a:r>
            <a:r>
              <a:rPr dirty="0"/>
              <a:t>2,608     </a:t>
            </a:r>
            <a:r>
              <a:rPr lang="en-IN" dirty="0"/>
              <a:t>        </a:t>
            </a:r>
            <a:r>
              <a:rPr dirty="0"/>
              <a:t>  </a:t>
            </a:r>
            <a:r>
              <a:rPr lang="en-IN" dirty="0"/>
              <a:t>     </a:t>
            </a:r>
            <a:r>
              <a:rPr dirty="0"/>
              <a:t>1,440      </a:t>
            </a:r>
            <a:r>
              <a:rPr lang="en-IN" dirty="0"/>
              <a:t>             </a:t>
            </a:r>
            <a:r>
              <a:rPr dirty="0"/>
              <a:t>101        </a:t>
            </a:r>
            <a:r>
              <a:rPr lang="en-IN" dirty="0"/>
              <a:t>          </a:t>
            </a:r>
            <a:r>
              <a:rPr dirty="0"/>
              <a:t> </a:t>
            </a:r>
            <a:r>
              <a:rPr lang="en-IN" dirty="0"/>
              <a:t>  </a:t>
            </a:r>
            <a:r>
              <a:rPr dirty="0"/>
              <a:t>5,099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 err="1"/>
              <a:t>annual_revenue_million</a:t>
            </a:r>
            <a:r>
              <a:rPr dirty="0"/>
              <a:t>    $</a:t>
            </a:r>
            <a:r>
              <a:rPr dirty="0" err="1"/>
              <a:t>554.76M</a:t>
            </a:r>
            <a:r>
              <a:rPr dirty="0"/>
              <a:t>    </a:t>
            </a:r>
            <a:r>
              <a:rPr lang="en-IN" dirty="0"/>
              <a:t>      </a:t>
            </a:r>
            <a:r>
              <a:rPr dirty="0"/>
              <a:t>$</a:t>
            </a:r>
            <a:r>
              <a:rPr dirty="0" err="1"/>
              <a:t>557.10M</a:t>
            </a:r>
            <a:r>
              <a:rPr dirty="0"/>
              <a:t>    </a:t>
            </a:r>
            <a:r>
              <a:rPr lang="en-IN" dirty="0"/>
              <a:t>        </a:t>
            </a:r>
            <a:r>
              <a:rPr dirty="0"/>
              <a:t>$</a:t>
            </a:r>
            <a:r>
              <a:rPr dirty="0" err="1"/>
              <a:t>288.26M</a:t>
            </a:r>
            <a:r>
              <a:rPr dirty="0"/>
              <a:t>    </a:t>
            </a:r>
            <a:r>
              <a:rPr lang="en-IN" dirty="0"/>
              <a:t>      </a:t>
            </a:r>
            <a:r>
              <a:rPr dirty="0"/>
              <a:t>$</a:t>
            </a:r>
            <a:r>
              <a:rPr dirty="0" err="1"/>
              <a:t>50.21M</a:t>
            </a:r>
            <a:r>
              <a:rPr dirty="0"/>
              <a:t>     </a:t>
            </a:r>
            <a:r>
              <a:rPr lang="en-IN" dirty="0"/>
              <a:t>       </a:t>
            </a:r>
            <a:r>
              <a:rPr dirty="0"/>
              <a:t>$</a:t>
            </a:r>
            <a:r>
              <a:rPr dirty="0" err="1"/>
              <a:t>1,049.88M</a:t>
            </a: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 err="1"/>
              <a:t>profit_margin_percent</a:t>
            </a:r>
            <a:r>
              <a:rPr dirty="0"/>
              <a:t>     </a:t>
            </a:r>
            <a:r>
              <a:rPr lang="en-IN" dirty="0"/>
              <a:t>  </a:t>
            </a:r>
            <a:r>
              <a:rPr dirty="0"/>
              <a:t>24.88%      </a:t>
            </a:r>
            <a:r>
              <a:rPr lang="en-IN" dirty="0"/>
              <a:t>         </a:t>
            </a:r>
            <a:r>
              <a:rPr dirty="0"/>
              <a:t>24.88%     </a:t>
            </a:r>
            <a:r>
              <a:rPr lang="en-IN" dirty="0"/>
              <a:t>      </a:t>
            </a:r>
            <a:r>
              <a:rPr dirty="0"/>
              <a:t> </a:t>
            </a:r>
            <a:r>
              <a:rPr lang="en-IN" dirty="0"/>
              <a:t>     </a:t>
            </a:r>
            <a:r>
              <a:rPr dirty="0"/>
              <a:t>11.54%     </a:t>
            </a:r>
            <a:r>
              <a:rPr lang="en-IN" dirty="0"/>
              <a:t>       </a:t>
            </a:r>
            <a:r>
              <a:rPr dirty="0"/>
              <a:t> </a:t>
            </a:r>
            <a:r>
              <a:rPr lang="en-IN" dirty="0"/>
              <a:t>   </a:t>
            </a:r>
            <a:r>
              <a:rPr dirty="0"/>
              <a:t>5.00%      </a:t>
            </a:r>
            <a:r>
              <a:rPr lang="en-IN" dirty="0"/>
              <a:t>           </a:t>
            </a:r>
            <a:r>
              <a:rPr dirty="0"/>
              <a:t>45.00%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 err="1"/>
              <a:t>customer_count</a:t>
            </a:r>
            <a:r>
              <a:rPr dirty="0"/>
              <a:t>            </a:t>
            </a:r>
            <a:r>
              <a:rPr lang="en-IN" dirty="0"/>
              <a:t>       </a:t>
            </a:r>
            <a:r>
              <a:rPr dirty="0"/>
              <a:t>50,502      </a:t>
            </a:r>
            <a:r>
              <a:rPr lang="en-IN" dirty="0"/>
              <a:t>          </a:t>
            </a:r>
            <a:r>
              <a:rPr dirty="0"/>
              <a:t>50,505      </a:t>
            </a:r>
            <a:r>
              <a:rPr lang="en-IN" dirty="0"/>
              <a:t>            </a:t>
            </a:r>
            <a:r>
              <a:rPr dirty="0"/>
              <a:t>28,837      </a:t>
            </a:r>
            <a:r>
              <a:rPr lang="en-IN" dirty="0"/>
              <a:t>           </a:t>
            </a:r>
            <a:r>
              <a:rPr dirty="0"/>
              <a:t>502         </a:t>
            </a:r>
            <a:r>
              <a:rPr lang="en-IN" dirty="0"/>
              <a:t>           </a:t>
            </a:r>
            <a:r>
              <a:rPr dirty="0"/>
              <a:t>100,484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 err="1"/>
              <a:t>market_rating</a:t>
            </a:r>
            <a:r>
              <a:rPr dirty="0"/>
              <a:t>             </a:t>
            </a:r>
            <a:r>
              <a:rPr lang="en-IN" dirty="0"/>
              <a:t>          </a:t>
            </a:r>
            <a:r>
              <a:rPr dirty="0"/>
              <a:t>2.51       </a:t>
            </a:r>
            <a:r>
              <a:rPr lang="en-IN" dirty="0"/>
              <a:t>        </a:t>
            </a:r>
            <a:r>
              <a:rPr dirty="0"/>
              <a:t> </a:t>
            </a:r>
            <a:r>
              <a:rPr lang="en-IN" dirty="0"/>
              <a:t>     </a:t>
            </a:r>
            <a:r>
              <a:rPr dirty="0"/>
              <a:t>2.50 </a:t>
            </a:r>
            <a:r>
              <a:rPr lang="en-IN" dirty="0"/>
              <a:t>                     1.44                     </a:t>
            </a:r>
            <a:r>
              <a:rPr dirty="0"/>
              <a:t>0.00        </a:t>
            </a:r>
            <a:r>
              <a:rPr lang="en-IN" dirty="0"/>
              <a:t>            </a:t>
            </a:r>
            <a:r>
              <a:rPr dirty="0"/>
              <a:t>5.00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Key Observations: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Average company has ~2,601 employees generating ~$</a:t>
            </a:r>
            <a:r>
              <a:rPr dirty="0" err="1"/>
              <a:t>555M</a:t>
            </a:r>
            <a:r>
              <a:rPr dirty="0"/>
              <a:t> annual revenue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Average profit margin is ~25% with market rating of ~2.5 out of 5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Average customer base is ~50,500 customers per company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rPr dirty="0"/>
              <a:t>  • Companies founded between 1990–2019, centered around year 2004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Categorical Distribution — Industry &amp; Country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rPr sz="1600" dirty="0"/>
              <a:t>Industry: 3,000 companies each in Finance, Technology, Retail, Manufacturing, Healthcare — perfectly balanced distribution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rPr sz="1600" dirty="0"/>
              <a:t>Country: 3,750 companies each in India, Germany, Canada, and USA — equal geographic representation</a:t>
            </a:r>
          </a:p>
        </p:txBody>
      </p:sp>
      <p:pic>
        <p:nvPicPr>
          <p:cNvPr id="4" name="Picture 3" descr="industry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0"/>
            <a:ext cx="5669280" cy="3370923"/>
          </a:xfrm>
          <a:prstGeom prst="rect">
            <a:avLst/>
          </a:prstGeom>
        </p:spPr>
      </p:pic>
      <p:pic>
        <p:nvPicPr>
          <p:cNvPr id="5" name="Picture 4" descr="country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68880"/>
            <a:ext cx="5669280" cy="337092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Regional Distribution of Companies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30352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Regional Breakdown: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North America: 50.0% (7,500 companies)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 — Canada + USA combined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Asia: 25.0% (3,750 companies)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 — India-based companies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Europe: 25.0% (3,750 companies)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 — Germany-based companies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Insight: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North America has the largest share due to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 Canada and USA both mapping to this region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Balanced global representation across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 all three major regions</a:t>
            </a:r>
          </a:p>
        </p:txBody>
      </p:sp>
      <p:pic>
        <p:nvPicPr>
          <p:cNvPr id="4" name="Picture 3" descr="reg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66928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Skewness &amp; Kurtosis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30352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Skewness Results: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All values near 0 (range: -0.02 to 0.0</a:t>
            </a:r>
            <a:r>
              <a:rPr lang="en-IN" dirty="0"/>
              <a:t>3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Nearly symmetric distributions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</a:t>
            </a:r>
            <a:r>
              <a:rPr lang="en-IN" sz="1400" dirty="0" err="1"/>
              <a:t>annual_revenue_million</a:t>
            </a:r>
            <a:r>
              <a:rPr lang="en-IN" sz="1400" dirty="0"/>
              <a:t> </a:t>
            </a:r>
            <a:r>
              <a:rPr dirty="0"/>
              <a:t>: </a:t>
            </a:r>
            <a:r>
              <a:rPr lang="en-IN" sz="1400" dirty="0"/>
              <a:t>0.0273 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lang="en-IN" sz="1400" dirty="0"/>
              <a:t>     </a:t>
            </a:r>
            <a:r>
              <a:rPr dirty="0"/>
              <a:t>(slight positive)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</a:t>
            </a:r>
            <a:r>
              <a:rPr dirty="0" err="1"/>
              <a:t>market_rating</a:t>
            </a:r>
            <a:r>
              <a:rPr dirty="0"/>
              <a:t>: -</a:t>
            </a:r>
            <a:r>
              <a:rPr lang="en-IN" sz="1400" dirty="0"/>
              <a:t>-0.0200</a:t>
            </a:r>
            <a:r>
              <a:rPr dirty="0"/>
              <a:t> (slight negative)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Kurtosis Results: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All values ≈ -1.19 (platykurtic)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Flatter than normal distribution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Values spread evenly across ranges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Interpretation: Uniform-like distributions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with no severe skewness or heavy tails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3B98C-A874-2481-CEFB-7E003C51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612" y="996197"/>
            <a:ext cx="8600083" cy="56197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Revenue Distribution — Histogram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30352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Annual Revenue Distribution: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Range: $</a:t>
            </a:r>
            <a:r>
              <a:rPr dirty="0" err="1"/>
              <a:t>50M</a:t>
            </a:r>
            <a:r>
              <a:rPr dirty="0"/>
              <a:t> to $</a:t>
            </a:r>
            <a:r>
              <a:rPr dirty="0" err="1"/>
              <a:t>1,050M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Nearly uniform across all bins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Each bracket: ~1,400–1,600 companies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Peak at 450–</a:t>
            </a:r>
            <a:r>
              <a:rPr dirty="0" err="1"/>
              <a:t>550M</a:t>
            </a:r>
            <a:r>
              <a:rPr dirty="0"/>
              <a:t> range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Statistical Measures: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Mean: $5</a:t>
            </a:r>
            <a:r>
              <a:rPr lang="en-IN" dirty="0"/>
              <a:t>49</a:t>
            </a:r>
            <a:r>
              <a:rPr dirty="0"/>
              <a:t>.7</a:t>
            </a:r>
            <a:r>
              <a:rPr lang="en-IN" dirty="0"/>
              <a:t>3</a:t>
            </a:r>
            <a:r>
              <a:rPr dirty="0"/>
              <a:t>M | Median: $5</a:t>
            </a:r>
            <a:r>
              <a:rPr lang="en-IN" dirty="0"/>
              <a:t>43</a:t>
            </a:r>
            <a:r>
              <a:rPr dirty="0"/>
              <a:t>.</a:t>
            </a:r>
            <a:r>
              <a:rPr lang="en-IN" dirty="0"/>
              <a:t>92</a:t>
            </a:r>
            <a:r>
              <a:rPr dirty="0"/>
              <a:t>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Std Dev: 288.2</a:t>
            </a:r>
            <a:r>
              <a:rPr lang="en-IN" dirty="0"/>
              <a:t>4</a:t>
            </a:r>
            <a:r>
              <a:rPr dirty="0"/>
              <a:t>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Skewness: </a:t>
            </a:r>
            <a:r>
              <a:rPr lang="en-IN" dirty="0"/>
              <a:t>0.03</a:t>
            </a:r>
            <a:r>
              <a:rPr dirty="0"/>
              <a:t> | Kurtosis: -1.19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Insight: Revenue is evenly distributed.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No single revenue bracket dominates.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Most companies operate at </a:t>
            </a: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medium-to-large scale.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81ED6-3DFD-C840-A191-509E48A7E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320" y="1191558"/>
            <a:ext cx="8466154" cy="5210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Revenue Outlier Detection — Boxplot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520785"/>
            <a:ext cx="530352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Boxplot Analysis (IQR Method):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Median revenue: ~$5</a:t>
            </a:r>
            <a:r>
              <a:rPr lang="en-IN" dirty="0"/>
              <a:t>43.92</a:t>
            </a:r>
            <a:r>
              <a:rPr dirty="0"/>
              <a:t>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</a:t>
            </a:r>
            <a:r>
              <a:rPr dirty="0" err="1"/>
              <a:t>Q1</a:t>
            </a:r>
            <a:r>
              <a:rPr dirty="0"/>
              <a:t> (25%): ~$</a:t>
            </a:r>
            <a:r>
              <a:rPr dirty="0" err="1"/>
              <a:t>306M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</a:t>
            </a:r>
            <a:r>
              <a:rPr dirty="0" err="1"/>
              <a:t>Q3</a:t>
            </a:r>
            <a:r>
              <a:rPr dirty="0"/>
              <a:t> (75%): ~$</a:t>
            </a:r>
            <a:r>
              <a:rPr dirty="0" err="1"/>
              <a:t>803M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IQR: ~$</a:t>
            </a:r>
            <a:r>
              <a:rPr dirty="0" err="1"/>
              <a:t>497M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Whiskers: $</a:t>
            </a:r>
            <a:r>
              <a:rPr dirty="0" err="1"/>
              <a:t>50M</a:t>
            </a:r>
            <a:r>
              <a:rPr dirty="0"/>
              <a:t> to $</a:t>
            </a:r>
            <a:r>
              <a:rPr dirty="0" err="1"/>
              <a:t>1,050M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Outlier Findings: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No extreme outliers beyond whiskers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All values within expected business range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dirty="0"/>
          </a:p>
        </p:txBody>
      </p:sp>
      <p:pic>
        <p:nvPicPr>
          <p:cNvPr id="4" name="Picture 3" descr="cell3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04063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Employee Count Analysis — Distribution &amp;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rPr dirty="0"/>
              <a:t>Employee Count: Range 101–5,099 | Mean 2,601 | Uniform distribution | Boxplot shows median ~2,608 with no extreme outliers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C9657F-FA20-67A2-CCA9-58935A1B0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96824"/>
            <a:ext cx="6834433" cy="50527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CFBAA9-2F4E-5F79-AD44-E81B99623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240" y="1621410"/>
            <a:ext cx="5155362" cy="523659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Revenue by Industry — Boxplot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30352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Industry-wise Revenue Comparison: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Finance: Median ~$5</a:t>
            </a:r>
            <a:r>
              <a:rPr lang="en-IN" dirty="0"/>
              <a:t>49.49</a:t>
            </a:r>
            <a:r>
              <a:rPr dirty="0"/>
              <a:t>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Technology: Median ~$5</a:t>
            </a:r>
            <a:r>
              <a:rPr lang="en-IN" dirty="0"/>
              <a:t>41.95</a:t>
            </a:r>
            <a:r>
              <a:rPr dirty="0"/>
              <a:t>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Retail: Median ~$5</a:t>
            </a:r>
            <a:r>
              <a:rPr lang="en-IN" dirty="0"/>
              <a:t>62.08</a:t>
            </a:r>
            <a:r>
              <a:rPr dirty="0"/>
              <a:t>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Manufacturing: Median ~$5</a:t>
            </a:r>
            <a:r>
              <a:rPr lang="en-IN" dirty="0"/>
              <a:t>36.48</a:t>
            </a:r>
            <a:r>
              <a:rPr dirty="0"/>
              <a:t>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Healthcare: Median ~$5</a:t>
            </a:r>
            <a:r>
              <a:rPr lang="en-IN" dirty="0"/>
              <a:t>32.97</a:t>
            </a:r>
            <a:r>
              <a:rPr dirty="0"/>
              <a:t>M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Insight: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All industries show nearly</a:t>
            </a:r>
            <a:r>
              <a:rPr lang="en-IN" dirty="0"/>
              <a:t> same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 revenue distributions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No industry dominates revenue generation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Each sector has companies ranging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 from $</a:t>
            </a:r>
            <a:r>
              <a:rPr dirty="0" err="1"/>
              <a:t>50M</a:t>
            </a:r>
            <a:r>
              <a:rPr dirty="0"/>
              <a:t> to $</a:t>
            </a:r>
            <a:r>
              <a:rPr dirty="0" err="1"/>
              <a:t>1,050M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• Balanced competitive landscape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1334EF-71C2-D7B4-2485-E5034FA8D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800" y="914400"/>
            <a:ext cx="8181975" cy="57340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Revenue by Country &amp; Region — Boxplots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rPr sz="1600" dirty="0"/>
              <a:t>Geographic Revenue Analysis: All countries (India, Germany, Canada, USA) and regions (Asia, Europe, North America) show comparable median revenue ~$5</a:t>
            </a:r>
            <a:r>
              <a:rPr lang="en-IN" sz="1600" dirty="0"/>
              <a:t>43.24</a:t>
            </a:r>
            <a:r>
              <a:rPr sz="1600" dirty="0"/>
              <a:t>M with similar IQR ranges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A91F81-B0F8-5A87-5CAB-C0624833E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5968"/>
            <a:ext cx="6095999" cy="5102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CD3A0B-45B0-0D2D-5D79-CB789D37D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773495"/>
            <a:ext cx="6096001" cy="49773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Average Revenue &amp; Employees by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rPr sz="1600" dirty="0"/>
              <a:t>Average metrics are nearly identical across all 5 industries — avg revenue ~$</a:t>
            </a:r>
            <a:r>
              <a:rPr sz="1600" dirty="0" err="1"/>
              <a:t>555M</a:t>
            </a:r>
            <a:r>
              <a:rPr sz="1600" dirty="0"/>
              <a:t> and avg employees ~2,600 per industry, confirming balanced dataset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D6CB38-3AD7-1704-DA27-B20CA0206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0" y="1636335"/>
            <a:ext cx="6193410" cy="5127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3A1FFD-3B8A-145D-B380-915DDC0CB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36335"/>
            <a:ext cx="5919090" cy="512786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Profit Margin Analysis — Distribution &amp; by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rPr dirty="0"/>
              <a:t>Profit Margin: Range 5%–45% | Mean 24.88% | Relatively stable across industries | All industries have similar profit margin spread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61657C-02E5-673C-B35A-B59522DD5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4" y="1568629"/>
            <a:ext cx="6577651" cy="5210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2D698A-C9F6-2251-0270-A94C70059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886" y="1568628"/>
            <a:ext cx="5114354" cy="5210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Customer Count Analysis — Distribution &amp; by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Customer Count: Range 502–100,484 | Mean 50,502 | Uniform distribution | Avg ~50,500 customers per industry | Retail and Technology sectors handle larger customer bases</a:t>
            </a:r>
          </a:p>
        </p:txBody>
      </p:sp>
      <p:pic>
        <p:nvPicPr>
          <p:cNvPr id="5" name="Picture 4" descr="avg_customer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62812"/>
            <a:ext cx="5943600" cy="5095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0ED5E8-F010-7D2B-02AB-0BAEF245C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7825"/>
            <a:ext cx="6217920" cy="52101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Market Rating by Industry — Bar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Average Market Rating by Industry: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• Finance: ~2.5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• Technology: ~2.5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• Retail: ~2.6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• Manufacturing: ~2.5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• Healthcare: ~2.5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Key Finding: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• Market ratings are nearly identical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  across all industries (~2.5/5)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• Industry type is NOT a major driver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  of market rating differences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• Consistent variance across categories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t>  • Mean rating: 2.51 | Median: 2.50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6D9D40-7EA5-30F6-BE66-B36B244F9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98" y="1009650"/>
            <a:ext cx="8058150" cy="58483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Industry Performance &amp; Regional Ratings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rPr sz="1600" dirty="0"/>
              <a:t>Max market rating reaches 5.0 for all industries | Avg regional ratings: Asia ~2.5</a:t>
            </a:r>
            <a:r>
              <a:rPr lang="en-IN" sz="1600" dirty="0"/>
              <a:t>0</a:t>
            </a:r>
            <a:r>
              <a:rPr sz="1600" dirty="0"/>
              <a:t>, Europe ~2.51, North America ~2.51 — no geographic rating advantage</a:t>
            </a:r>
          </a:p>
        </p:txBody>
      </p:sp>
      <p:pic>
        <p:nvPicPr>
          <p:cNvPr id="4" name="Picture 3" descr="cell41_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941922"/>
            <a:ext cx="5351282" cy="4755352"/>
          </a:xfrm>
          <a:prstGeom prst="rect">
            <a:avLst/>
          </a:prstGeom>
        </p:spPr>
      </p:pic>
      <p:pic>
        <p:nvPicPr>
          <p:cNvPr id="5" name="Picture 4" descr="avg_rating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042" y="1941922"/>
            <a:ext cx="6170158" cy="491607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Correlation Heatmap — Numerical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30352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lang="en-IN"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Pearson Correlation Analysis: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</a:t>
            </a:r>
            <a:r>
              <a:rPr sz="1600" dirty="0" err="1"/>
              <a:t>employee_count</a:t>
            </a:r>
            <a:r>
              <a:rPr sz="1600" dirty="0"/>
              <a:t> ↔ revenue: r = </a:t>
            </a:r>
            <a:r>
              <a:rPr lang="en-IN" sz="1600" dirty="0"/>
              <a:t>-</a:t>
            </a:r>
            <a:r>
              <a:rPr sz="1600" dirty="0"/>
              <a:t>0.00</a:t>
            </a:r>
            <a:r>
              <a:rPr lang="en-IN" sz="1600" dirty="0"/>
              <a:t>2</a:t>
            </a: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</a:t>
            </a:r>
            <a:r>
              <a:rPr sz="1600" dirty="0" err="1"/>
              <a:t>customer_count</a:t>
            </a:r>
            <a:r>
              <a:rPr sz="1600" dirty="0"/>
              <a:t> ↔ </a:t>
            </a:r>
            <a:r>
              <a:rPr lang="en-IN" sz="1600" dirty="0"/>
              <a:t>profit margin per</a:t>
            </a:r>
            <a:r>
              <a:rPr sz="1600" dirty="0"/>
              <a:t>: r = 0.0</a:t>
            </a:r>
            <a:r>
              <a:rPr lang="en-IN" sz="1600" dirty="0"/>
              <a:t>11</a:t>
            </a: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</a:t>
            </a:r>
            <a:r>
              <a:rPr sz="1600" dirty="0" err="1"/>
              <a:t>market_rating</a:t>
            </a:r>
            <a:r>
              <a:rPr sz="1600" dirty="0"/>
              <a:t> ↔ </a:t>
            </a:r>
            <a:r>
              <a:rPr lang="en-IN" sz="1600" dirty="0"/>
              <a:t>revenue</a:t>
            </a:r>
            <a:r>
              <a:rPr sz="1600" dirty="0"/>
              <a:t>: r = </a:t>
            </a:r>
            <a:r>
              <a:rPr lang="en-IN" sz="1600" dirty="0"/>
              <a:t>0.015</a:t>
            </a: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</a:t>
            </a:r>
            <a:r>
              <a:rPr lang="en-IN" sz="1600" dirty="0" err="1"/>
              <a:t>employee_count</a:t>
            </a:r>
            <a:r>
              <a:rPr lang="en-IN" sz="1600" dirty="0"/>
              <a:t> ↔ </a:t>
            </a:r>
            <a:r>
              <a:rPr lang="en-IN" sz="1600" dirty="0" err="1"/>
              <a:t>customer_count</a:t>
            </a:r>
            <a:r>
              <a:rPr lang="en-IN" sz="1600" dirty="0"/>
              <a:t>: r = - 0.012</a:t>
            </a: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Observations: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All correlations are very weak (|r| &lt; 0.01)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No strong linear relationships detected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No multicollinearity issues among variables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Variables are largely independent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Note: Uniform data distribution results in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near-zero correlations between variables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3D5BFF-F24C-CD5A-EF18-CCE23E38C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640" y="1413334"/>
            <a:ext cx="6677025" cy="51625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Bivariate Analysis — Revenue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rPr sz="1600" dirty="0"/>
              <a:t>Employee Count vs Revenue (r=0.006): No clear linear trend — larger workforce does not guarantee higher revenue | Customer Count vs Revenue (r=0.008): Customer base size shows no strong revenue correlation</a:t>
            </a:r>
            <a:r>
              <a:rPr lang="en-IN" sz="1600" dirty="0"/>
              <a:t>.</a:t>
            </a:r>
            <a:endParaRPr sz="1600" dirty="0"/>
          </a:p>
        </p:txBody>
      </p:sp>
      <p:pic>
        <p:nvPicPr>
          <p:cNvPr id="4" name="Picture 3" descr="scatter_emp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0"/>
            <a:ext cx="5669280" cy="3370923"/>
          </a:xfrm>
          <a:prstGeom prst="rect">
            <a:avLst/>
          </a:prstGeom>
        </p:spPr>
      </p:pic>
      <p:pic>
        <p:nvPicPr>
          <p:cNvPr id="5" name="Picture 4" descr="scatter_cust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468880"/>
            <a:ext cx="5669280" cy="337092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lang="en-IN" dirty="0"/>
              <a:t>Multivariate</a:t>
            </a:r>
            <a:r>
              <a:rPr dirty="0"/>
              <a:t> Analysis — </a:t>
            </a:r>
            <a:r>
              <a:rPr lang="en-IN" dirty="0"/>
              <a:t>Industry</a:t>
            </a:r>
            <a:r>
              <a:rPr dirty="0"/>
              <a:t> &amp; Founded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2C3E50"/>
                </a:solidFill>
              </a:defRPr>
            </a:pPr>
            <a:r>
              <a:rPr lang="en-US" sz="1300" dirty="0"/>
              <a:t>None of the five industries shows a consistent upward or downward revenue trend over the 30 years. Revenue fluctuates up and down year by year, staying within a consistent range of approximately $</a:t>
            </a:r>
            <a:r>
              <a:rPr lang="en-US" sz="1300" dirty="0" err="1"/>
              <a:t>480M</a:t>
            </a:r>
            <a:r>
              <a:rPr lang="en-US" sz="1300" dirty="0"/>
              <a:t> to $</a:t>
            </a:r>
            <a:r>
              <a:rPr lang="en-US" sz="1300" dirty="0" err="1"/>
              <a:t>620M</a:t>
            </a:r>
            <a:r>
              <a:rPr lang="en-US" sz="1300" dirty="0"/>
              <a:t>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2C3E50"/>
                </a:solidFill>
              </a:defRPr>
            </a:pPr>
            <a:r>
              <a:rPr lang="en-US" sz="1300" dirty="0"/>
              <a:t>Company founded in 1990 is not earning significantly more or less than one founded in 2015. This proves — longevity alone does not translate into financial performance.</a:t>
            </a:r>
            <a:endParaRPr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D431B-3D34-F200-FE56-CEE0AF883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91" y="1926850"/>
            <a:ext cx="9972675" cy="479446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Key Statistical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Data Quality: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15,000 complete records, 0 nulls, 0 duplicates — fully clean dataset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Distribution Patterns: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All numerical variables show near-zero skewness (symmetric distributions)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All variables exhibit negative kurtosis (~-1.19) — platykurtic, fewer outliers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Revenue, employees, customers uniformly distributed across their ranges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Industry &amp; Geographic Insights: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3,000 companies per industry — perfectly balanced sector representation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3,750 companies per country — equal geographic distribution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No single industry or region dominates revenue or ratings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endParaRPr sz="1600" dirty="0"/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Relationship Analysis: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Correlations between all variable pairs are very weak (|r| &lt; 0.01)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No multicollinearity detected — variables are independent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</a:defRPr>
            </a:pPr>
            <a:r>
              <a:rPr sz="1600" dirty="0"/>
              <a:t>  • Market ratings average 2.5/5 consistently across all segments</a:t>
            </a: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Conclusion &amp; Business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80385-3918-E60B-24F6-B0DE88944890}"/>
              </a:ext>
            </a:extLst>
          </p:cNvPr>
          <p:cNvSpPr txBox="1"/>
          <p:nvPr/>
        </p:nvSpPr>
        <p:spPr>
          <a:xfrm>
            <a:off x="443060" y="1282045"/>
            <a:ext cx="107748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E6C78"/>
                </a:solidFill>
                <a:ea typeface="Aptos"/>
                <a:cs typeface="Aptos"/>
              </a:rPr>
              <a:t>The analysis confirms a clean, balanced dataset, but weak correlations mean business decisions need deeper segmentation and feature engineering.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993929-5B2C-6F40-ECA5-C6800EA6F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74" y="5924217"/>
            <a:ext cx="10679015" cy="55252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5126FF0-AF19-C572-42E9-F55DF3D95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59" y="2672535"/>
            <a:ext cx="5024487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 EDA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▪ Dataset is reliable: 15,000 records, 12 variables, no null values and no duplicate rows.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▪ Revenue is broadly distributed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50.16M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1,049.96M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mean revenue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$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549.7M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skew is only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0.0273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▪ Industry and country samples are balanced;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industry has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3,000 companies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each country has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3,750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▪ Correlations are weak: employee vs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-0.002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customer count vs revenue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-0.003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A4988AB-A5BF-A472-AFCB-B6FB4F515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3789" y="2596397"/>
            <a:ext cx="6400801" cy="287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Business Implications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▪ The dataset is suitable for benchmarking because quality checks passed and segment coverage is even.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▪ Management should not assume revenue is driven only by employee count or customer count.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▪ Retail has the highest average revenue ($</a:t>
            </a:r>
            <a:r>
              <a:rPr lang="en-IN" sz="1600" dirty="0" err="1"/>
              <a:t>562.08M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but gaps are small, so strategy should be segment-specific.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▪ Market rating averages 2.51/5; improvement should target average rating movement, not only top-rated firms.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▪ Next step: engineer features such as company age, revenue per employee, revenue per customer and profit bands before modeling.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1973</Words>
  <Application>Microsoft Office PowerPoint</Application>
  <PresentationFormat>Widescreen</PresentationFormat>
  <Paragraphs>253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krishna.radhey101@outlook.com</cp:lastModifiedBy>
  <cp:revision>7</cp:revision>
  <dcterms:created xsi:type="dcterms:W3CDTF">2013-01-27T09:14:16Z</dcterms:created>
  <dcterms:modified xsi:type="dcterms:W3CDTF">2026-06-09T19:19:59Z</dcterms:modified>
  <cp:category/>
</cp:coreProperties>
</file>