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1301" y="37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951C4F-2F3F-40CC-8B3E-F4445384CFC3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55F24-ACD8-4ECF-BC5E-04897A04E4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084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355F24-ACD8-4ECF-BC5E-04897A04E44C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5662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push dir="u"/>
  </p:transition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34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15823" y="1645920"/>
            <a:ext cx="7729873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rPr dirty="0"/>
              <a:t>Exploratory Data Analysis of</a:t>
            </a:r>
            <a:br>
              <a:rPr dirty="0"/>
            </a:br>
            <a:r>
              <a:rPr dirty="0"/>
              <a:t>Large-Scale Industry Performance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72113" y="5029200"/>
            <a:ext cx="201728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DC3C7"/>
                </a:solidFill>
              </a:defRPr>
            </a:pPr>
            <a:r>
              <a:rPr lang="en-IN" dirty="0"/>
              <a:t>Created by Shivangini</a:t>
            </a:r>
            <a:r>
              <a:rPr dirty="0"/>
              <a:t>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632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Exploratory Data Analysis (EDA) is a statistical approach to understand data before predictive modeling.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It uses summary statistics, visualizations, and relationship analysis to uncover patterns and anomalies.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Project Context: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Large-scale industry performance dataset covering global companies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15,000 company records across 5 industries and 4 countries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12 variables including revenue, employees, profit, customers, and ratings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Business Value: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Identify industry trends and performance benchmarks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Understand revenue behavior and market dynamics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Support strategic decision-making and forecasting</a:t>
            </a: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Problem Statement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632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Problem Statement: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Analyze a large-scale industry performance dataset using univariate, bivariate,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and multivariate statistical techniques to extract meaningful business insights.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Primary Objectives: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1. Perform comprehensive univariate analysis on all numerical variables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2. Conduct bivariate analysis to study relationships between variable pairs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3. Apply multivariate analysis for multi-factor interaction patterns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4. Detect and interpret outliers using boxplots and IQR method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5. Measure skewness and kurtosis for distribution shape analysis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6. Generate correlation matrix and heatmap for numerical variables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7. Compare performance across industries, countries, and regions</a:t>
            </a: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Libraries, Tools &amp;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Python Libraries Used: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NumPy — Numerical operations and multidimensional array handling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Pandas — Data loading, cleaning, manipulation, and statistical analysis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Matplotlib — Histograms, boxplots, bar charts, and scatter plots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Seaborn — Advanced statistical visualizations and correlation heatmaps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</a:t>
            </a:r>
            <a:r>
              <a:rPr dirty="0" err="1"/>
              <a:t>OpenPyXL</a:t>
            </a:r>
            <a:r>
              <a:rPr dirty="0"/>
              <a:t> — Reading INDUSTRY.xlsx dataset file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EDA Methodology Applied: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Step 1: Data Loading &amp; Initial Exploration (head, tail, info, describe)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Step 2: Data Cleaning (null check, duplicate check, date conversion)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Step 3: Univariate Analysis (distributions, skewness, kurtosis, boxplots)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Step 4: Categorical Analysis (frequency counts, grouped comparisons)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Step 5: Bivariate Analysis (scatter plots, correlation coefficients)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Step 6: Multivariate Analysis (correlation heatmap, grouped boxplots)</a:t>
            </a:r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Data Preprocessing &amp; Quality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Data Loading: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</a:t>
            </a:r>
            <a:r>
              <a:rPr dirty="0" err="1"/>
              <a:t>df</a:t>
            </a:r>
            <a:r>
              <a:rPr dirty="0"/>
              <a:t> = </a:t>
            </a:r>
            <a:r>
              <a:rPr dirty="0" err="1"/>
              <a:t>pd.read_excel</a:t>
            </a:r>
            <a:r>
              <a:rPr dirty="0"/>
              <a:t>('INDUSTRY.xlsx') — Successfully loaded 15,000 records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Data Cleaning Steps: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Converted </a:t>
            </a:r>
            <a:r>
              <a:rPr dirty="0" err="1"/>
              <a:t>created_date</a:t>
            </a:r>
            <a:r>
              <a:rPr dirty="0"/>
              <a:t> column to datetime format using </a:t>
            </a:r>
            <a:r>
              <a:rPr dirty="0" err="1"/>
              <a:t>pd.to_datetime</a:t>
            </a:r>
            <a:r>
              <a:rPr dirty="0"/>
              <a:t>()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Verified all column data types (7 numerical, 4 categorical, 1 datetime)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Checked for missing values across all 12 columns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Checked for duplicate records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Quality Check Results: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Missing Values: 0 null values in all columns — Dataset is 100% complete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Duplicate Records: 0 duplicates found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Data Integrity: All records are valid and analysis-ready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No imputation or row removal was required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Descriptive Statistics — Numerical Variables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Variable                  </a:t>
            </a:r>
            <a:r>
              <a:rPr lang="en-IN" dirty="0"/>
              <a:t>              </a:t>
            </a:r>
            <a:r>
              <a:rPr dirty="0"/>
              <a:t>Mean       </a:t>
            </a:r>
            <a:r>
              <a:rPr lang="en-IN" dirty="0"/>
              <a:t>     </a:t>
            </a:r>
            <a:r>
              <a:rPr dirty="0"/>
              <a:t> Median      </a:t>
            </a:r>
            <a:r>
              <a:rPr lang="en-IN" dirty="0"/>
              <a:t>      </a:t>
            </a:r>
            <a:r>
              <a:rPr dirty="0"/>
              <a:t>Std Dev     </a:t>
            </a:r>
            <a:r>
              <a:rPr lang="en-IN" dirty="0"/>
              <a:t>         </a:t>
            </a:r>
            <a:r>
              <a:rPr dirty="0"/>
              <a:t>Min        </a:t>
            </a:r>
            <a:r>
              <a:rPr lang="en-IN" dirty="0"/>
              <a:t>            </a:t>
            </a:r>
            <a:r>
              <a:rPr dirty="0"/>
              <a:t> Max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employee_count</a:t>
            </a:r>
            <a:r>
              <a:rPr dirty="0"/>
              <a:t>            </a:t>
            </a:r>
            <a:r>
              <a:rPr lang="en-IN" dirty="0"/>
              <a:t>     </a:t>
            </a:r>
            <a:r>
              <a:rPr dirty="0"/>
              <a:t>2,601     </a:t>
            </a:r>
            <a:r>
              <a:rPr lang="en-IN" dirty="0"/>
              <a:t>       </a:t>
            </a:r>
            <a:r>
              <a:rPr dirty="0"/>
              <a:t>  2,608     </a:t>
            </a:r>
            <a:r>
              <a:rPr lang="en-IN" dirty="0"/>
              <a:t>        </a:t>
            </a:r>
            <a:r>
              <a:rPr dirty="0"/>
              <a:t>  1,440      </a:t>
            </a:r>
            <a:r>
              <a:rPr lang="en-IN" dirty="0"/>
              <a:t>          </a:t>
            </a:r>
            <a:r>
              <a:rPr dirty="0"/>
              <a:t> 101        </a:t>
            </a:r>
            <a:r>
              <a:rPr lang="en-IN" dirty="0"/>
              <a:t>          </a:t>
            </a:r>
            <a:r>
              <a:rPr dirty="0"/>
              <a:t> </a:t>
            </a:r>
            <a:r>
              <a:rPr lang="en-IN" dirty="0"/>
              <a:t>  </a:t>
            </a:r>
            <a:r>
              <a:rPr dirty="0"/>
              <a:t>5,099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annual_revenue_million</a:t>
            </a:r>
            <a:r>
              <a:rPr dirty="0"/>
              <a:t>    $</a:t>
            </a:r>
            <a:r>
              <a:rPr dirty="0" err="1"/>
              <a:t>554.76M</a:t>
            </a:r>
            <a:r>
              <a:rPr dirty="0"/>
              <a:t>    $</a:t>
            </a:r>
            <a:r>
              <a:rPr dirty="0" err="1"/>
              <a:t>557.10M</a:t>
            </a:r>
            <a:r>
              <a:rPr dirty="0"/>
              <a:t>    </a:t>
            </a:r>
            <a:r>
              <a:rPr lang="en-IN" dirty="0"/>
              <a:t>    </a:t>
            </a:r>
            <a:r>
              <a:rPr dirty="0"/>
              <a:t>$</a:t>
            </a:r>
            <a:r>
              <a:rPr dirty="0" err="1"/>
              <a:t>288.26M</a:t>
            </a:r>
            <a:r>
              <a:rPr dirty="0"/>
              <a:t>    </a:t>
            </a:r>
            <a:r>
              <a:rPr lang="en-IN" dirty="0"/>
              <a:t>    </a:t>
            </a:r>
            <a:r>
              <a:rPr dirty="0"/>
              <a:t>$</a:t>
            </a:r>
            <a:r>
              <a:rPr dirty="0" err="1"/>
              <a:t>50.21M</a:t>
            </a:r>
            <a:r>
              <a:rPr dirty="0"/>
              <a:t>     </a:t>
            </a:r>
            <a:r>
              <a:rPr lang="en-IN" dirty="0"/>
              <a:t>       </a:t>
            </a:r>
            <a:r>
              <a:rPr dirty="0"/>
              <a:t>$</a:t>
            </a:r>
            <a:r>
              <a:rPr dirty="0" err="1"/>
              <a:t>1,049.88M</a:t>
            </a: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profit_margin_percent</a:t>
            </a:r>
            <a:r>
              <a:rPr dirty="0"/>
              <a:t>     </a:t>
            </a:r>
            <a:r>
              <a:rPr lang="en-IN" dirty="0"/>
              <a:t>  </a:t>
            </a:r>
            <a:r>
              <a:rPr dirty="0"/>
              <a:t>24.88%      </a:t>
            </a:r>
            <a:r>
              <a:rPr lang="en-IN" dirty="0"/>
              <a:t>    </a:t>
            </a:r>
            <a:r>
              <a:rPr dirty="0"/>
              <a:t>24.88%     </a:t>
            </a:r>
            <a:r>
              <a:rPr lang="en-IN" dirty="0"/>
              <a:t>      </a:t>
            </a:r>
            <a:r>
              <a:rPr dirty="0"/>
              <a:t> 11.54%     </a:t>
            </a:r>
            <a:r>
              <a:rPr lang="en-IN" dirty="0"/>
              <a:t>       </a:t>
            </a:r>
            <a:r>
              <a:rPr dirty="0"/>
              <a:t> 5.00%      </a:t>
            </a:r>
            <a:r>
              <a:rPr lang="en-IN" dirty="0"/>
              <a:t>           </a:t>
            </a:r>
            <a:r>
              <a:rPr dirty="0"/>
              <a:t>45.00%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founded_year</a:t>
            </a:r>
            <a:r>
              <a:rPr dirty="0"/>
              <a:t>              </a:t>
            </a:r>
            <a:r>
              <a:rPr lang="en-IN" dirty="0"/>
              <a:t>         </a:t>
            </a:r>
            <a:r>
              <a:rPr dirty="0"/>
              <a:t>2,004     </a:t>
            </a:r>
            <a:r>
              <a:rPr lang="en-IN" dirty="0"/>
              <a:t>       </a:t>
            </a:r>
            <a:r>
              <a:rPr dirty="0"/>
              <a:t>  2,005       </a:t>
            </a:r>
            <a:r>
              <a:rPr lang="en-IN" dirty="0"/>
              <a:t>          </a:t>
            </a:r>
            <a:r>
              <a:rPr dirty="0"/>
              <a:t>8.68        </a:t>
            </a:r>
            <a:r>
              <a:rPr lang="en-IN" dirty="0"/>
              <a:t>        </a:t>
            </a:r>
            <a:r>
              <a:rPr dirty="0"/>
              <a:t>1,990       </a:t>
            </a:r>
            <a:r>
              <a:rPr lang="en-IN" dirty="0"/>
              <a:t>           </a:t>
            </a:r>
            <a:r>
              <a:rPr dirty="0"/>
              <a:t>2,019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customer_count</a:t>
            </a:r>
            <a:r>
              <a:rPr dirty="0"/>
              <a:t>            </a:t>
            </a:r>
            <a:r>
              <a:rPr lang="en-IN" dirty="0"/>
              <a:t>       </a:t>
            </a:r>
            <a:r>
              <a:rPr dirty="0"/>
              <a:t>50,502      </a:t>
            </a:r>
            <a:r>
              <a:rPr lang="en-IN" dirty="0"/>
              <a:t>     </a:t>
            </a:r>
            <a:r>
              <a:rPr dirty="0"/>
              <a:t>50,505      </a:t>
            </a:r>
            <a:r>
              <a:rPr lang="en-IN" dirty="0"/>
              <a:t>       </a:t>
            </a:r>
            <a:r>
              <a:rPr dirty="0"/>
              <a:t>28,837      </a:t>
            </a:r>
            <a:r>
              <a:rPr lang="en-IN" dirty="0"/>
              <a:t>         </a:t>
            </a:r>
            <a:r>
              <a:rPr dirty="0"/>
              <a:t>502         </a:t>
            </a:r>
            <a:r>
              <a:rPr lang="en-IN" dirty="0"/>
              <a:t>           </a:t>
            </a:r>
            <a:r>
              <a:rPr dirty="0"/>
              <a:t>100,484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 err="1"/>
              <a:t>market_rating</a:t>
            </a:r>
            <a:r>
              <a:rPr dirty="0"/>
              <a:t>             </a:t>
            </a:r>
            <a:r>
              <a:rPr lang="en-IN" dirty="0"/>
              <a:t>          </a:t>
            </a:r>
            <a:r>
              <a:rPr dirty="0"/>
              <a:t>2.51       </a:t>
            </a:r>
            <a:r>
              <a:rPr lang="en-IN" dirty="0"/>
              <a:t>        </a:t>
            </a:r>
            <a:r>
              <a:rPr dirty="0"/>
              <a:t> 2.50 </a:t>
            </a:r>
            <a:r>
              <a:rPr lang="en-IN" dirty="0"/>
              <a:t>                 1.44                   </a:t>
            </a:r>
            <a:r>
              <a:rPr dirty="0"/>
              <a:t>0.00        </a:t>
            </a:r>
            <a:r>
              <a:rPr lang="en-IN" dirty="0"/>
              <a:t>           </a:t>
            </a:r>
            <a:r>
              <a:rPr dirty="0"/>
              <a:t>5.00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Key Observations: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Average company has ~2,601 employees generating ~$</a:t>
            </a:r>
            <a:r>
              <a:rPr dirty="0" err="1"/>
              <a:t>555M</a:t>
            </a:r>
            <a:r>
              <a:rPr dirty="0"/>
              <a:t> annual revenue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Average profit margin is ~25% with market rating of ~2.5 out of 5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Average customer base is ~50,500 customers per company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rPr dirty="0"/>
              <a:t>  • Companies founded between 1990–2019, centered around year 2004</a:t>
            </a: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Categorical Distribution — Industry &amp; Country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3000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rPr sz="1600" dirty="0"/>
              <a:t>Industry: 3,000 companies each in Finance, Technology, Retail, Manufacturing, Healthcare — perfectly balanced distribution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rPr sz="1600" dirty="0"/>
              <a:t>Country: 3,750 companies each in India, Germany, Canada, and USA — equal geographic representation</a:t>
            </a:r>
          </a:p>
        </p:txBody>
      </p:sp>
      <p:pic>
        <p:nvPicPr>
          <p:cNvPr id="4" name="Picture 3" descr="industry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68880"/>
            <a:ext cx="5669280" cy="3370923"/>
          </a:xfrm>
          <a:prstGeom prst="rect">
            <a:avLst/>
          </a:prstGeom>
        </p:spPr>
      </p:pic>
      <p:pic>
        <p:nvPicPr>
          <p:cNvPr id="5" name="Picture 4" descr="country_cou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468880"/>
            <a:ext cx="5669280" cy="3370923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Regional Distribution of Companies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5303520" cy="469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Regional Breakdown: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North America: 50.0% (7,500 companies)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  — Canada + USA combined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Asia: 25.0% (3,750 companies)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  — India-based companies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Europe: 25.0% (3,750 companies)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  — Germany-based companies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Insight: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North America has the largest share due to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  Canada and USA both mapping to this region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Balanced global representation across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  all three major regions</a:t>
            </a:r>
          </a:p>
        </p:txBody>
      </p:sp>
      <p:pic>
        <p:nvPicPr>
          <p:cNvPr id="4" name="Picture 3" descr="region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760720" cy="5923878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Skewness &amp; Kurtosis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5303520" cy="469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Skewness Results: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All values near 0 (range: -0.02 to 0.01)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Nearly symmetric distributions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</a:t>
            </a:r>
            <a:r>
              <a:rPr dirty="0" err="1"/>
              <a:t>employee_count</a:t>
            </a:r>
            <a:r>
              <a:rPr dirty="0"/>
              <a:t>: +0.007 (slight positive)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</a:t>
            </a:r>
            <a:r>
              <a:rPr dirty="0" err="1"/>
              <a:t>market_rating</a:t>
            </a:r>
            <a:r>
              <a:rPr dirty="0"/>
              <a:t>: -0.008 (slight negative)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Kurtosis Results: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All values ≈ -1.19 (platykurtic)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Flatter than normal distribution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Fewer extreme outliers expected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Values spread evenly across ranges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Interpretation: Uniform-like distributions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with no severe skewness or heavy tails</a:t>
            </a:r>
          </a:p>
        </p:txBody>
      </p:sp>
      <p:pic>
        <p:nvPicPr>
          <p:cNvPr id="4" name="Picture 3" descr="skew_kurtosi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417" y="1188720"/>
            <a:ext cx="7829904" cy="524036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Revenue Distribution — Histogram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5303520" cy="469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Annual Revenue Distribution: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Range: $</a:t>
            </a:r>
            <a:r>
              <a:rPr dirty="0" err="1"/>
              <a:t>50M</a:t>
            </a:r>
            <a:r>
              <a:rPr dirty="0"/>
              <a:t> to $</a:t>
            </a:r>
            <a:r>
              <a:rPr dirty="0" err="1"/>
              <a:t>1,050M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Nearly uniform across all bins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Each bracket: ~1,400–1,600 companies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Peak at 450–</a:t>
            </a:r>
            <a:r>
              <a:rPr dirty="0" err="1"/>
              <a:t>550M</a:t>
            </a:r>
            <a:r>
              <a:rPr dirty="0"/>
              <a:t> range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Statistical Measures: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Mean: $</a:t>
            </a:r>
            <a:r>
              <a:rPr dirty="0" err="1"/>
              <a:t>554.76M</a:t>
            </a:r>
            <a:r>
              <a:rPr dirty="0"/>
              <a:t> | Median: $</a:t>
            </a:r>
            <a:r>
              <a:rPr dirty="0" err="1"/>
              <a:t>557.10M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Std Dev: $</a:t>
            </a:r>
            <a:r>
              <a:rPr dirty="0" err="1"/>
              <a:t>288.26M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Skewness: -0.02 | Kurtosis: -1.19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Insight: Revenue is evenly distributed.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No single revenue bracket dominates.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Most companies operate at medium-to-large scale.</a:t>
            </a:r>
          </a:p>
        </p:txBody>
      </p:sp>
      <p:pic>
        <p:nvPicPr>
          <p:cNvPr id="4" name="Picture 3" descr="cell32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769" y="1188719"/>
            <a:ext cx="7424551" cy="4872715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Revenue Outlier Detection — Boxplot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5303520" cy="469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Boxplot Analysis (IQR Method):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Median revenue: ~$</a:t>
            </a:r>
            <a:r>
              <a:rPr dirty="0" err="1"/>
              <a:t>557M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</a:t>
            </a:r>
            <a:r>
              <a:rPr dirty="0" err="1"/>
              <a:t>Q1</a:t>
            </a:r>
            <a:r>
              <a:rPr dirty="0"/>
              <a:t> (25%): ~$</a:t>
            </a:r>
            <a:r>
              <a:rPr dirty="0" err="1"/>
              <a:t>306M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</a:t>
            </a:r>
            <a:r>
              <a:rPr dirty="0" err="1"/>
              <a:t>Q3</a:t>
            </a:r>
            <a:r>
              <a:rPr dirty="0"/>
              <a:t> (75%): ~$</a:t>
            </a:r>
            <a:r>
              <a:rPr dirty="0" err="1"/>
              <a:t>803M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IQR: ~$</a:t>
            </a:r>
            <a:r>
              <a:rPr dirty="0" err="1"/>
              <a:t>497M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Whiskers: $</a:t>
            </a:r>
            <a:r>
              <a:rPr dirty="0" err="1"/>
              <a:t>50M</a:t>
            </a:r>
            <a:r>
              <a:rPr dirty="0"/>
              <a:t> to $</a:t>
            </a:r>
            <a:r>
              <a:rPr dirty="0" err="1"/>
              <a:t>1,050M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Outlier Findings: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No extreme outliers beyond whiskers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Negative kurtosis confirms fewer outliers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All values within expected business range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Decision: Outliers retained — they represent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genuine large-scale organizations</a:t>
            </a:r>
          </a:p>
        </p:txBody>
      </p:sp>
      <p:pic>
        <p:nvPicPr>
          <p:cNvPr id="4" name="Picture 3" descr="cell33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760720" cy="504063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Revenue by Industry — Boxplot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5303520" cy="469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Industry-wise Revenue Comparison: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Finance: Median ~$</a:t>
            </a:r>
            <a:r>
              <a:rPr dirty="0" err="1"/>
              <a:t>557M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Technology: Median ~$</a:t>
            </a:r>
            <a:r>
              <a:rPr dirty="0" err="1"/>
              <a:t>557M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Retail: Median ~$</a:t>
            </a:r>
            <a:r>
              <a:rPr dirty="0" err="1"/>
              <a:t>557M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Manufacturing: Median ~$</a:t>
            </a:r>
            <a:r>
              <a:rPr dirty="0" err="1"/>
              <a:t>557M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Healthcare: Median ~$</a:t>
            </a:r>
            <a:r>
              <a:rPr dirty="0" err="1"/>
              <a:t>557M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Insight: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All industries show nearly identical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  revenue distributions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No industry dominates revenue generation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Each sector has companies ranging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  from $</a:t>
            </a:r>
            <a:r>
              <a:rPr dirty="0" err="1"/>
              <a:t>50M</a:t>
            </a:r>
            <a:r>
              <a:rPr dirty="0"/>
              <a:t> to $</a:t>
            </a:r>
            <a:r>
              <a:rPr dirty="0" err="1"/>
              <a:t>1,050M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Balanced competitive landscape</a:t>
            </a:r>
          </a:p>
        </p:txBody>
      </p:sp>
      <p:pic>
        <p:nvPicPr>
          <p:cNvPr id="4" name="Picture 3" descr="cell35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760720" cy="445055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Revenue by Country &amp; Region — Boxplots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rPr sz="1600" dirty="0"/>
              <a:t>Geographic Revenue Analysis: All countries (India, Germany, Canada, USA) and regions (Asia, Europe, North America) show comparable median revenue ~$</a:t>
            </a:r>
            <a:r>
              <a:rPr sz="1600" dirty="0" err="1"/>
              <a:t>557M</a:t>
            </a:r>
            <a:r>
              <a:rPr sz="1600" dirty="0"/>
              <a:t> with similar IQR ranges</a:t>
            </a:r>
          </a:p>
        </p:txBody>
      </p:sp>
      <p:pic>
        <p:nvPicPr>
          <p:cNvPr id="4" name="Picture 3" descr="cell36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68880"/>
            <a:ext cx="5669280" cy="4379912"/>
          </a:xfrm>
          <a:prstGeom prst="rect">
            <a:avLst/>
          </a:prstGeom>
        </p:spPr>
      </p:pic>
      <p:pic>
        <p:nvPicPr>
          <p:cNvPr id="5" name="Picture 4" descr="cell37_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560320"/>
            <a:ext cx="5669280" cy="3925321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Average Revenue &amp; Employees by Industry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rPr sz="1600" dirty="0"/>
              <a:t>Average metrics are nearly identical across all 5 industries — avg revenue ~$</a:t>
            </a:r>
            <a:r>
              <a:rPr sz="1600" dirty="0" err="1"/>
              <a:t>555M</a:t>
            </a:r>
            <a:r>
              <a:rPr sz="1600" dirty="0"/>
              <a:t> and avg employees ~2,600 per industry, confirming balanced dataset distribution</a:t>
            </a:r>
          </a:p>
        </p:txBody>
      </p:sp>
      <p:pic>
        <p:nvPicPr>
          <p:cNvPr id="4" name="Picture 3" descr="avg_revenue_indu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68880"/>
            <a:ext cx="5669280" cy="3370923"/>
          </a:xfrm>
          <a:prstGeom prst="rect">
            <a:avLst/>
          </a:prstGeom>
        </p:spPr>
      </p:pic>
      <p:pic>
        <p:nvPicPr>
          <p:cNvPr id="5" name="Picture 4" descr="avg_employee_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468880"/>
            <a:ext cx="5669280" cy="3370923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Employee Count Analysis — Distribution &amp; Outliers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Employee Count: Range 101–5,099 | Mean 2,601 | Uniform distribution | Boxplot shows median ~2,608 with no extreme outliers | High variance between small and large enterprises</a:t>
            </a:r>
          </a:p>
        </p:txBody>
      </p:sp>
      <p:pic>
        <p:nvPicPr>
          <p:cNvPr id="4" name="Picture 3" descr="employee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68880"/>
            <a:ext cx="5669280" cy="2802790"/>
          </a:xfrm>
          <a:prstGeom prst="rect">
            <a:avLst/>
          </a:prstGeom>
        </p:spPr>
      </p:pic>
      <p:pic>
        <p:nvPicPr>
          <p:cNvPr id="5" name="Picture 4" descr="employee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468880"/>
            <a:ext cx="5669280" cy="279633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Profit Margin Analysis — Distribution &amp; by Industry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Profit Margin: Range 5%–45% | Mean 24.88% | Relatively stable across industries | Healthcare shows stable margins | All industries have similar profit margin spread</a:t>
            </a:r>
          </a:p>
        </p:txBody>
      </p:sp>
      <p:pic>
        <p:nvPicPr>
          <p:cNvPr id="4" name="Picture 3" descr="profit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68880"/>
            <a:ext cx="5669280" cy="2802790"/>
          </a:xfrm>
          <a:prstGeom prst="rect">
            <a:avLst/>
          </a:prstGeom>
        </p:spPr>
      </p:pic>
      <p:pic>
        <p:nvPicPr>
          <p:cNvPr id="5" name="Picture 4" descr="profit_by_industry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468880"/>
            <a:ext cx="5669280" cy="407102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Customer Count Analysis — Distribution &amp; by Industry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Customer Count: Range 502–100,484 | Mean 50,502 | Uniform distribution | Avg ~50,500 customers per industry | Retail and Technology sectors handle larger customer bases</a:t>
            </a:r>
          </a:p>
        </p:txBody>
      </p:sp>
      <p:pic>
        <p:nvPicPr>
          <p:cNvPr id="4" name="Picture 3" descr="custom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68880"/>
            <a:ext cx="5669280" cy="2802790"/>
          </a:xfrm>
          <a:prstGeom prst="rect">
            <a:avLst/>
          </a:prstGeom>
        </p:spPr>
      </p:pic>
      <p:pic>
        <p:nvPicPr>
          <p:cNvPr id="5" name="Picture 4" descr="avg_customer_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468880"/>
            <a:ext cx="5669280" cy="3370923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Market Rating by Industry — Bar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Average Market Rating by Industry: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• Finance: ~2.5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• Technology: ~2.5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• Retail: ~2.6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• Manufacturing: ~2.5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• Healthcare: ~2.5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Key Finding: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• Market ratings are nearly identical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  across all industries (~2.5/5)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• Industry type is NOT a major driver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  of market rating differences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• Consistent variance across categories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• Mean rating: 2.51 | Median: 2.50</a:t>
            </a:r>
          </a:p>
        </p:txBody>
      </p:sp>
      <p:pic>
        <p:nvPicPr>
          <p:cNvPr id="4" name="Picture 3" descr="cell39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417" y="1188720"/>
            <a:ext cx="7829904" cy="502354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Market Rating Distribution — Histogram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5303520" cy="469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Market Rating Frequency: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Scale: 0 to 5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Uniform distribution across bins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Each rating level has similar count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No concentration at any single rating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Statistical Profile: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Mean: 2.51 | Median: 2.50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Std Dev: 1.44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Skewness: -0.008 (near symmetric)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  • Kurtosis: -1.20 (platykurtic)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Insight: Ratings evenly spread — no bias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dirty="0"/>
              <a:t>toward high or low ratings in the dataset</a:t>
            </a:r>
          </a:p>
        </p:txBody>
      </p:sp>
      <p:pic>
        <p:nvPicPr>
          <p:cNvPr id="4" name="Picture 3" descr="cell40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2697" y="1348976"/>
            <a:ext cx="7801623" cy="4863288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Industry Performance &amp; Regional Ratings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rPr sz="1600" dirty="0"/>
              <a:t>Max market rating reaches 5.0 for all industries | Avg regional ratings: Asia ~2.5</a:t>
            </a:r>
            <a:r>
              <a:rPr lang="en-IN" sz="1600" dirty="0"/>
              <a:t>0</a:t>
            </a:r>
            <a:r>
              <a:rPr sz="1600" dirty="0"/>
              <a:t>, Europe ~2.51, North America ~2.51 — no geographic rating advantage</a:t>
            </a:r>
          </a:p>
        </p:txBody>
      </p:sp>
      <p:pic>
        <p:nvPicPr>
          <p:cNvPr id="4" name="Picture 3" descr="cell41_img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1941922"/>
            <a:ext cx="5351282" cy="4755352"/>
          </a:xfrm>
          <a:prstGeom prst="rect">
            <a:avLst/>
          </a:prstGeom>
        </p:spPr>
      </p:pic>
      <p:pic>
        <p:nvPicPr>
          <p:cNvPr id="5" name="Picture 4" descr="avg_rating_reg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7042" y="1941922"/>
            <a:ext cx="6170158" cy="4916078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Correlation Heatmap — Numerical Variables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5303520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lang="en-IN" sz="1600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Pearson Correlation Analysis: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</a:t>
            </a:r>
            <a:r>
              <a:rPr sz="1600" dirty="0" err="1"/>
              <a:t>employee_count</a:t>
            </a:r>
            <a:r>
              <a:rPr sz="1600" dirty="0"/>
              <a:t> ↔ revenue: r = 0.006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</a:t>
            </a:r>
            <a:r>
              <a:rPr sz="1600" dirty="0" err="1"/>
              <a:t>customer_count</a:t>
            </a:r>
            <a:r>
              <a:rPr sz="1600" dirty="0"/>
              <a:t> ↔ revenue: r = 0.008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</a:t>
            </a:r>
            <a:r>
              <a:rPr sz="1600" dirty="0" err="1"/>
              <a:t>market_rating</a:t>
            </a:r>
            <a:r>
              <a:rPr sz="1600" dirty="0"/>
              <a:t> ↔ </a:t>
            </a:r>
            <a:r>
              <a:rPr sz="1600" dirty="0" err="1"/>
              <a:t>profit_margin</a:t>
            </a:r>
            <a:r>
              <a:rPr sz="1600" dirty="0"/>
              <a:t>: r = -0.006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</a:t>
            </a:r>
            <a:r>
              <a:rPr sz="1600" dirty="0" err="1"/>
              <a:t>founded_year</a:t>
            </a:r>
            <a:r>
              <a:rPr sz="1600" dirty="0"/>
              <a:t> ↔ revenue: r ≈ 0.00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sz="1600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Observations: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All correlations are very weak (|r| &lt; 0.01)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No strong linear relationships detected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No multicollinearity issues among variables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Variables are largely independent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sz="1600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Note: Uniform data distribution results in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near-zero correlations between variables</a:t>
            </a:r>
          </a:p>
        </p:txBody>
      </p:sp>
      <p:pic>
        <p:nvPicPr>
          <p:cNvPr id="4" name="Picture 3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866" y="1327616"/>
            <a:ext cx="7179454" cy="5179162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Bivariate Analysis — Revenue Relationships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rPr sz="1600" dirty="0"/>
              <a:t>Employee Count vs Revenue (r=0.006): No clear linear trend — larger workforce does not guarantee higher revenue | Customer Count vs Revenue (r=0.008): Customer base size shows no strong revenue correlation</a:t>
            </a:r>
            <a:r>
              <a:rPr lang="en-IN" sz="1600" dirty="0"/>
              <a:t>.</a:t>
            </a:r>
            <a:endParaRPr sz="1600" dirty="0"/>
          </a:p>
        </p:txBody>
      </p:sp>
      <p:pic>
        <p:nvPicPr>
          <p:cNvPr id="4" name="Picture 3" descr="scatter_emp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68880"/>
            <a:ext cx="5669280" cy="3370923"/>
          </a:xfrm>
          <a:prstGeom prst="rect">
            <a:avLst/>
          </a:prstGeom>
        </p:spPr>
      </p:pic>
      <p:pic>
        <p:nvPicPr>
          <p:cNvPr id="5" name="Picture 4" descr="scatter_cust_re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468880"/>
            <a:ext cx="5669280" cy="3370923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Bivariate Analysis — Rating &amp; Founded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rPr sz="1600" dirty="0"/>
              <a:t>Market Rating vs Profit Margin (r=-0.006): Weak negative correlation — higher ratings don't strongly link to higher margins | Founded Year vs Revenue (</a:t>
            </a:r>
            <a:r>
              <a:rPr sz="1600" dirty="0" err="1"/>
              <a:t>r≈0</a:t>
            </a:r>
            <a:r>
              <a:rPr sz="1600" dirty="0"/>
              <a:t>): Older companies don't necessarily generate more revenue</a:t>
            </a:r>
          </a:p>
        </p:txBody>
      </p:sp>
      <p:pic>
        <p:nvPicPr>
          <p:cNvPr id="4" name="Picture 3" descr="scatter_rating_pro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438" y="2468880"/>
            <a:ext cx="5874784" cy="4063895"/>
          </a:xfrm>
          <a:prstGeom prst="rect">
            <a:avLst/>
          </a:prstGeom>
        </p:spPr>
      </p:pic>
      <p:pic>
        <p:nvPicPr>
          <p:cNvPr id="5" name="Picture 4" descr="scatter_year_re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468880"/>
            <a:ext cx="5874784" cy="4063895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Key Statistical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Data Quality: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15,000 complete records, 0 nulls, 0 duplicates — fully clean dataset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sz="1600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Distribution Patterns: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All numerical variables show near-zero skewness (symmetric distributions)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All variables exhibit negative kurtosis (~-1.19) — platykurtic, fewer outliers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Revenue, employees, customers uniformly distributed across their ranges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sz="1600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Industry &amp; Geographic Insights: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3,000 companies per industry — perfectly balanced sector representation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3,750 companies per country — equal geographic distribution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No single industry or region dominates revenue or ratings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endParaRPr sz="1600" dirty="0"/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Relationship Analysis: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Correlations between all variable pairs are very weak (|r| &lt; 0.01)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No multicollinearity detected — variables are independent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rPr sz="1600" dirty="0"/>
              <a:t>  • Market ratings average 2.5/5 consistently across all segments</a:t>
            </a:r>
          </a:p>
        </p:txBody>
      </p:sp>
    </p:spTree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Conclusion &amp; Business Applications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D80385-3918-E60B-24F6-B0DE88944890}"/>
              </a:ext>
            </a:extLst>
          </p:cNvPr>
          <p:cNvSpPr txBox="1"/>
          <p:nvPr/>
        </p:nvSpPr>
        <p:spPr>
          <a:xfrm>
            <a:off x="443060" y="1282045"/>
            <a:ext cx="1077483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5E6C78"/>
                </a:solidFill>
                <a:ea typeface="Aptos"/>
                <a:cs typeface="Aptos"/>
              </a:rPr>
              <a:t>The analysis confirms a clean, balanced dataset, but weak correlations mean business decisions need deeper segmentation and feature engineering.</a:t>
            </a:r>
          </a:p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DF91A3-A15A-B47C-91E5-9AD74B8A6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74" y="2233953"/>
            <a:ext cx="5163271" cy="34485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F5A4E8-6B01-396E-F3AE-3854AB134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2258" y="2233953"/>
            <a:ext cx="5115639" cy="33913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993929-5B2C-6F40-ECA5-C6800EA6FB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74" y="5924217"/>
            <a:ext cx="10679015" cy="552527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1874</Words>
  <Application>Microsoft Office PowerPoint</Application>
  <PresentationFormat>Widescreen</PresentationFormat>
  <Paragraphs>258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krishna.radhey101@outlook.com</cp:lastModifiedBy>
  <cp:revision>4</cp:revision>
  <dcterms:created xsi:type="dcterms:W3CDTF">2013-01-27T09:14:16Z</dcterms:created>
  <dcterms:modified xsi:type="dcterms:W3CDTF">2026-06-08T19:36:13Z</dcterms:modified>
  <cp:category/>
</cp:coreProperties>
</file>